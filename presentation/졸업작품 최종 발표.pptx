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sz="quarter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quarter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quarter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quarter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7.png"/><Relationship Id="rId6" Type="http://schemas.openxmlformats.org/officeDocument/2006/relationships/image" Target="../media/image8.png"/><Relationship Id="rId7" Type="http://schemas.openxmlformats.org/officeDocument/2006/relationships/image" Target="../media/image18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19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Relationship Id="rId4" Type="http://schemas.openxmlformats.org/officeDocument/2006/relationships/image" Target="../media/image3.png"/><Relationship Id="rId5" Type="http://schemas.openxmlformats.org/officeDocument/2006/relationships/image" Target="../media/image25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ED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495300"/>
            <a:ext cx="169037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238500" y="6502400"/>
            <a:ext cx="118110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7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8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sp>
        <p:nvSpPr>
          <p:cNvPr id="106" name="TextBox 16"/>
          <p:cNvSpPr txBox="1"/>
          <p:nvPr/>
        </p:nvSpPr>
        <p:spPr>
          <a:xfrm>
            <a:off x="3365500" y="6692900"/>
            <a:ext cx="11557000" cy="295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|    </a:t>
            </a:r>
            <a:r>
              <a:t>박성재</a:t>
            </a:r>
            <a:r>
              <a:t> 20518035    |   </a:t>
            </a:r>
            <a:r>
              <a:t>심성관</a:t>
            </a:r>
            <a:r>
              <a:t> 20518053   |  </a:t>
            </a:r>
          </a:p>
        </p:txBody>
      </p:sp>
      <p:sp>
        <p:nvSpPr>
          <p:cNvPr id="107" name="TextBox 17"/>
          <p:cNvSpPr txBox="1"/>
          <p:nvPr/>
        </p:nvSpPr>
        <p:spPr>
          <a:xfrm>
            <a:off x="2438400" y="3302000"/>
            <a:ext cx="13411200" cy="2793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07899"/>
              </a:lnSpc>
              <a:defRPr sz="8300">
                <a:solidFill>
                  <a:srgbClr val="90A4A5"/>
                </a:solidFill>
              </a:defRPr>
            </a:pPr>
            <a:r>
              <a:rPr>
                <a:latin typeface="paybooc Medium"/>
                <a:ea typeface="paybooc Medium"/>
                <a:cs typeface="paybooc Medium"/>
                <a:sym typeface="paybooc Medium"/>
              </a:rPr>
              <a:t>창의적</a:t>
            </a:r>
            <a:r>
              <a:rPr>
                <a:latin typeface="paybooc Medium"/>
                <a:ea typeface="paybooc Medium"/>
                <a:cs typeface="paybooc Medium"/>
                <a:sym typeface="paybooc Medium"/>
              </a:rPr>
              <a:t> </a:t>
            </a:r>
            <a:r>
              <a:rPr>
                <a:latin typeface="paybooc Medium"/>
                <a:ea typeface="paybooc Medium"/>
                <a:cs typeface="paybooc Medium"/>
                <a:sym typeface="paybooc Medium"/>
              </a:rPr>
              <a:t>공학설계</a:t>
            </a:r>
            <a:endParaRPr>
              <a:latin typeface="paybooc Medium"/>
              <a:ea typeface="paybooc Medium"/>
              <a:cs typeface="paybooc Medium"/>
              <a:sym typeface="paybooc Medium"/>
            </a:endParaRPr>
          </a:p>
          <a:p>
            <a:pPr algn="ctr">
              <a:lnSpc>
                <a:spcPct val="107899"/>
              </a:lnSpc>
              <a:defRPr sz="8300">
                <a:solidFill>
                  <a:srgbClr val="373737"/>
                </a:solidFill>
                <a:latin typeface="paybooc Medium"/>
                <a:ea typeface="paybooc Medium"/>
                <a:cs typeface="paybooc Medium"/>
                <a:sym typeface="paybooc Medium"/>
              </a:defRPr>
            </a:pPr>
            <a:r>
              <a:t>AI </a:t>
            </a:r>
            <a:r>
              <a:t>화자</a:t>
            </a:r>
            <a:r>
              <a:t> </a:t>
            </a:r>
            <a:r>
              <a:t>구별</a:t>
            </a:r>
            <a:r>
              <a:t> </a:t>
            </a:r>
            <a:r>
              <a:t>기반</a:t>
            </a:r>
            <a:r>
              <a:t> </a:t>
            </a:r>
            <a:r>
              <a:t>도어락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4953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0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7000" y="3022600"/>
            <a:ext cx="7543800" cy="278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1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47200" y="3022600"/>
            <a:ext cx="7543800" cy="278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97000" y="6096000"/>
            <a:ext cx="7543800" cy="278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347200" y="6096000"/>
            <a:ext cx="7543800" cy="278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5" name="Picture 8" descr="Picture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06600" y="4013200"/>
            <a:ext cx="64008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6" name="Picture 9" descr="Picture 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893300" y="4013200"/>
            <a:ext cx="64008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Picture 10" descr="Picture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006600" y="7086600"/>
            <a:ext cx="64008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Picture 11" descr="Picture 1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893300" y="7086600"/>
            <a:ext cx="6400800" cy="673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19" name="Picture 13" descr="Picture 1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0" name="Picture 14" descr="Picture 14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1" name="Picture 15" descr="Picture 15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2" name="Picture 16" descr="Picture 16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4" name="Picture 19" descr="Picture 19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20" descr="Picture 2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21" descr="Picture 21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22" descr="Picture 2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28" name="Picture 23" descr="Picture 2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TextBox 24"/>
          <p:cNvSpPr txBox="1"/>
          <p:nvPr/>
        </p:nvSpPr>
        <p:spPr>
          <a:xfrm>
            <a:off x="9652000" y="7912100"/>
            <a:ext cx="6883400" cy="84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손을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사용하지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않고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인증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가능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 </a:t>
            </a:r>
            <a:endParaRPr>
              <a:latin typeface="Noto Sans CJK KR DemiLight"/>
              <a:ea typeface="Noto Sans CJK KR DemiLight"/>
              <a:cs typeface="Noto Sans CJK KR DemiLight"/>
              <a:sym typeface="Noto Sans CJK KR DemiLight"/>
            </a:endParaRPr>
          </a:p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행동이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불편한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장애인들을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위한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보안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시스템이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되었으면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함</a:t>
            </a:r>
          </a:p>
        </p:txBody>
      </p:sp>
      <p:sp>
        <p:nvSpPr>
          <p:cNvPr id="130" name="TextBox 25"/>
          <p:cNvSpPr txBox="1"/>
          <p:nvPr/>
        </p:nvSpPr>
        <p:spPr>
          <a:xfrm>
            <a:off x="9893300" y="7200900"/>
            <a:ext cx="64008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2600">
                <a:solidFill>
                  <a:srgbClr val="373737"/>
                </a:solidFill>
                <a:latin typeface="paybooc Bold"/>
                <a:ea typeface="paybooc Bold"/>
                <a:cs typeface="paybooc Bold"/>
                <a:sym typeface="paybooc Bold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필요성</a:t>
            </a:r>
          </a:p>
        </p:txBody>
      </p:sp>
      <p:sp>
        <p:nvSpPr>
          <p:cNvPr id="131" name="TextBox 26"/>
          <p:cNvSpPr txBox="1"/>
          <p:nvPr/>
        </p:nvSpPr>
        <p:spPr>
          <a:xfrm>
            <a:off x="11671300" y="66802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POINT. 04</a:t>
            </a:r>
          </a:p>
        </p:txBody>
      </p:sp>
      <p:sp>
        <p:nvSpPr>
          <p:cNvPr id="132" name="TextBox 27"/>
          <p:cNvSpPr txBox="1"/>
          <p:nvPr/>
        </p:nvSpPr>
        <p:spPr>
          <a:xfrm>
            <a:off x="1765300" y="7861300"/>
            <a:ext cx="6883400" cy="84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높은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정확도와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강건성을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확보</a:t>
            </a:r>
            <a:endParaRPr>
              <a:latin typeface="Noto Sans CJK KR DemiLight"/>
              <a:ea typeface="Noto Sans CJK KR DemiLight"/>
              <a:cs typeface="Noto Sans CJK KR DemiLight"/>
              <a:sym typeface="Noto Sans CJK KR DemiLight"/>
            </a:endParaRPr>
          </a:p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무음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/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잡음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필터링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기능을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추가해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신뢰도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높은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음성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수집</a:t>
            </a:r>
          </a:p>
        </p:txBody>
      </p:sp>
      <p:sp>
        <p:nvSpPr>
          <p:cNvPr id="133" name="TextBox 28"/>
          <p:cNvSpPr txBox="1"/>
          <p:nvPr/>
        </p:nvSpPr>
        <p:spPr>
          <a:xfrm>
            <a:off x="2006600" y="7200900"/>
            <a:ext cx="64008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2600">
                <a:solidFill>
                  <a:srgbClr val="373737"/>
                </a:solidFill>
                <a:latin typeface="paybooc Bold"/>
                <a:ea typeface="paybooc Bold"/>
                <a:cs typeface="paybooc Bold"/>
                <a:sym typeface="paybooc Bold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목표</a:t>
            </a:r>
          </a:p>
        </p:txBody>
      </p:sp>
      <p:sp>
        <p:nvSpPr>
          <p:cNvPr id="134" name="TextBox 29"/>
          <p:cNvSpPr txBox="1"/>
          <p:nvPr/>
        </p:nvSpPr>
        <p:spPr>
          <a:xfrm>
            <a:off x="3784600" y="66802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POINT. 03</a:t>
            </a:r>
          </a:p>
        </p:txBody>
      </p:sp>
      <p:sp>
        <p:nvSpPr>
          <p:cNvPr id="135" name="TextBox 30"/>
          <p:cNvSpPr txBox="1"/>
          <p:nvPr/>
        </p:nvSpPr>
        <p:spPr>
          <a:xfrm>
            <a:off x="9652000" y="4838700"/>
            <a:ext cx="6883400" cy="84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지문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,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얼굴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인식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,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홍채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등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다양한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생체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인식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보안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중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 </a:t>
            </a:r>
            <a:endParaRPr>
              <a:latin typeface="Noto Sans CJK KR DemiLight"/>
              <a:ea typeface="Noto Sans CJK KR DemiLight"/>
              <a:cs typeface="Noto Sans CJK KR DemiLight"/>
              <a:sym typeface="Noto Sans CJK KR DemiLight"/>
            </a:endParaRPr>
          </a:p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음성인식은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사용되지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않음</a:t>
            </a:r>
          </a:p>
        </p:txBody>
      </p:sp>
      <p:sp>
        <p:nvSpPr>
          <p:cNvPr id="136" name="TextBox 31"/>
          <p:cNvSpPr txBox="1"/>
          <p:nvPr/>
        </p:nvSpPr>
        <p:spPr>
          <a:xfrm>
            <a:off x="9893300" y="4127500"/>
            <a:ext cx="6400800" cy="393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2600">
                <a:solidFill>
                  <a:srgbClr val="373737"/>
                </a:solidFill>
                <a:latin typeface="paybooc Bold"/>
                <a:ea typeface="paybooc Bold"/>
                <a:cs typeface="paybooc Bold"/>
                <a:sym typeface="paybooc Bold"/>
              </a:defRPr>
            </a:lvl1pPr>
          </a:lstStyle>
          <a:p>
            <a:pPr>
              <a:defRPr>
                <a:latin typeface="+mn-lt"/>
                <a:ea typeface="+mn-ea"/>
                <a:cs typeface="+mn-cs"/>
                <a:sym typeface="Calibri"/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동기</a:t>
            </a:r>
          </a:p>
        </p:txBody>
      </p:sp>
      <p:sp>
        <p:nvSpPr>
          <p:cNvPr id="137" name="TextBox 32"/>
          <p:cNvSpPr txBox="1"/>
          <p:nvPr/>
        </p:nvSpPr>
        <p:spPr>
          <a:xfrm>
            <a:off x="11671300" y="35941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POINT. 02</a:t>
            </a:r>
          </a:p>
        </p:txBody>
      </p:sp>
      <p:sp>
        <p:nvSpPr>
          <p:cNvPr id="138" name="TextBox 33"/>
          <p:cNvSpPr txBox="1"/>
          <p:nvPr/>
        </p:nvSpPr>
        <p:spPr>
          <a:xfrm>
            <a:off x="1765300" y="4838700"/>
            <a:ext cx="6883400" cy="8442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사용자의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고유한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음성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특징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 </a:t>
            </a:r>
            <a:endParaRPr>
              <a:latin typeface="Noto Sans CJK KR DemiLight"/>
              <a:ea typeface="Noto Sans CJK KR DemiLight"/>
              <a:cs typeface="Noto Sans CJK KR DemiLight"/>
              <a:sym typeface="Noto Sans CJK KR DemiLight"/>
            </a:endParaRPr>
          </a:p>
          <a:p>
            <a:pPr algn="ctr">
              <a:lnSpc>
                <a:spcPct val="124499"/>
              </a:lnSpc>
              <a:defRPr spc="-100" sz="2300">
                <a:solidFill>
                  <a:srgbClr val="373737"/>
                </a:solidFill>
              </a:defRPr>
            </a:pP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스마트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도어락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,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홈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IoT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등의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보안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시스템에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응용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 </a:t>
            </a:r>
            <a:r>
              <a:rPr>
                <a:latin typeface="Noto Sans CJK KR DemiLight"/>
                <a:ea typeface="Noto Sans CJK KR DemiLight"/>
                <a:cs typeface="Noto Sans CJK KR DemiLight"/>
                <a:sym typeface="Noto Sans CJK KR DemiLight"/>
              </a:rPr>
              <a:t>가능</a:t>
            </a:r>
          </a:p>
        </p:txBody>
      </p:sp>
      <p:sp>
        <p:nvSpPr>
          <p:cNvPr id="139" name="TextBox 34"/>
          <p:cNvSpPr txBox="1"/>
          <p:nvPr/>
        </p:nvSpPr>
        <p:spPr>
          <a:xfrm>
            <a:off x="2006600" y="4127500"/>
            <a:ext cx="6400800" cy="41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26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개발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배경</a:t>
            </a:r>
          </a:p>
        </p:txBody>
      </p:sp>
      <p:sp>
        <p:nvSpPr>
          <p:cNvPr id="140" name="TextBox 35"/>
          <p:cNvSpPr txBox="1"/>
          <p:nvPr/>
        </p:nvSpPr>
        <p:spPr>
          <a:xfrm>
            <a:off x="3784600" y="35941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POINT. 01</a:t>
            </a:r>
          </a:p>
        </p:txBody>
      </p:sp>
      <p:sp>
        <p:nvSpPr>
          <p:cNvPr id="141" name="TextBox 36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열려라참깨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! AI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화자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구별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스마트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도어락</a:t>
            </a:r>
          </a:p>
        </p:txBody>
      </p:sp>
      <p:sp>
        <p:nvSpPr>
          <p:cNvPr id="142" name="TextBox 37"/>
          <p:cNvSpPr txBox="1"/>
          <p:nvPr/>
        </p:nvSpPr>
        <p:spPr>
          <a:xfrm>
            <a:off x="1562100" y="1638300"/>
            <a:ext cx="7874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4953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5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6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7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8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49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0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1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2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3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4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5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56" name="Picture 16" descr="Picture 1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451100" y="4330700"/>
            <a:ext cx="2857500" cy="330200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extBox 17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기능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흐름도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(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프로필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등록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)</a:t>
            </a:r>
          </a:p>
        </p:txBody>
      </p:sp>
      <p:sp>
        <p:nvSpPr>
          <p:cNvPr id="158" name="TextBox 18"/>
          <p:cNvSpPr txBox="1"/>
          <p:nvPr/>
        </p:nvSpPr>
        <p:spPr>
          <a:xfrm>
            <a:off x="1562100" y="1638300"/>
            <a:ext cx="7874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59" name="TextBox 21"/>
          <p:cNvSpPr txBox="1"/>
          <p:nvPr/>
        </p:nvSpPr>
        <p:spPr>
          <a:xfrm>
            <a:off x="12280900" y="5994400"/>
            <a:ext cx="4838700" cy="537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3300"/>
            </a:pP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음성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 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특징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 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추출</a:t>
            </a:r>
          </a:p>
        </p:txBody>
      </p:sp>
      <p:sp>
        <p:nvSpPr>
          <p:cNvPr id="160" name="TextBox 22"/>
          <p:cNvSpPr txBox="1"/>
          <p:nvPr/>
        </p:nvSpPr>
        <p:spPr>
          <a:xfrm>
            <a:off x="11861800" y="6667500"/>
            <a:ext cx="5676900" cy="7971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z="2200">
                <a:latin typeface="paybooc ExtraBold"/>
                <a:ea typeface="paybooc ExtraBold"/>
                <a:cs typeface="paybooc ExtraBold"/>
                <a:sym typeface="paybooc ExtraBold"/>
              </a:defRPr>
            </a:pPr>
            <a:r>
              <a:t>ECAPA </a:t>
            </a:r>
            <a:r>
              <a:t>모델</a:t>
            </a:r>
            <a:r>
              <a:t> → </a:t>
            </a:r>
            <a:r>
              <a:t>화자</a:t>
            </a:r>
            <a:r>
              <a:t> </a:t>
            </a:r>
            <a:r>
              <a:t>음성</a:t>
            </a:r>
            <a:r>
              <a:t> </a:t>
            </a:r>
            <a:r>
              <a:t>특징</a:t>
            </a:r>
            <a:r>
              <a:t> </a:t>
            </a:r>
            <a:r>
              <a:t>추출</a:t>
            </a:r>
          </a:p>
          <a:p>
            <a:pPr algn="ctr">
              <a:lnSpc>
                <a:spcPct val="124499"/>
              </a:lnSpc>
              <a:defRPr sz="2200">
                <a:latin typeface="paybooc ExtraBold"/>
                <a:ea typeface="paybooc ExtraBold"/>
                <a:cs typeface="paybooc ExtraBold"/>
                <a:sym typeface="paybooc ExtraBold"/>
              </a:defRPr>
            </a:pPr>
            <a:r>
              <a:t>wev2vec </a:t>
            </a:r>
            <a:r>
              <a:t>모델</a:t>
            </a:r>
            <a:r>
              <a:t> → </a:t>
            </a:r>
            <a:r>
              <a:t>화자</a:t>
            </a:r>
            <a:r>
              <a:t> </a:t>
            </a:r>
            <a:r>
              <a:t>말투</a:t>
            </a:r>
            <a:r>
              <a:t>, </a:t>
            </a:r>
            <a:r>
              <a:t>억양</a:t>
            </a:r>
            <a:r>
              <a:t> </a:t>
            </a:r>
            <a:r>
              <a:t>특징</a:t>
            </a:r>
            <a:r>
              <a:t> </a:t>
            </a:r>
            <a:r>
              <a:t>추출</a:t>
            </a:r>
            <a:r>
              <a:t> </a:t>
            </a:r>
          </a:p>
        </p:txBody>
      </p:sp>
      <p:pic>
        <p:nvPicPr>
          <p:cNvPr id="161" name="Picture 23" descr="Picture 23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14300200" y="51435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TextBox 25"/>
          <p:cNvSpPr txBox="1"/>
          <p:nvPr/>
        </p:nvSpPr>
        <p:spPr>
          <a:xfrm>
            <a:off x="5080000" y="3949700"/>
            <a:ext cx="6985000" cy="537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3300"/>
            </a:pP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음성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 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녹음</a:t>
            </a:r>
          </a:p>
        </p:txBody>
      </p:sp>
      <p:sp>
        <p:nvSpPr>
          <p:cNvPr id="163" name="TextBox 26"/>
          <p:cNvSpPr txBox="1"/>
          <p:nvPr/>
        </p:nvSpPr>
        <p:spPr>
          <a:xfrm>
            <a:off x="5080000" y="4622800"/>
            <a:ext cx="6972300" cy="3497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z="2200">
                <a:latin typeface="paybooc ExtraBold"/>
                <a:ea typeface="paybooc ExtraBold"/>
                <a:cs typeface="paybooc ExtraBold"/>
                <a:sym typeface="paybooc ExtraBold"/>
              </a:defRPr>
            </a:pPr>
            <a:r>
              <a:t>5</a:t>
            </a:r>
            <a:r>
              <a:t>개의</a:t>
            </a:r>
            <a:r>
              <a:t> </a:t>
            </a:r>
            <a:r>
              <a:t>문장</a:t>
            </a:r>
            <a:r>
              <a:t> </a:t>
            </a:r>
            <a:r>
              <a:t>녹음</a:t>
            </a:r>
          </a:p>
        </p:txBody>
      </p:sp>
      <p:pic>
        <p:nvPicPr>
          <p:cNvPr id="164" name="Picture 27" descr="Picture 27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8166100" y="3111500"/>
            <a:ext cx="812800" cy="8128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29" descr="Picture 29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527300" y="51435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TextBox 30"/>
          <p:cNvSpPr txBox="1"/>
          <p:nvPr/>
        </p:nvSpPr>
        <p:spPr>
          <a:xfrm>
            <a:off x="723900" y="6718300"/>
            <a:ext cx="4419600" cy="7852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24499"/>
              </a:lnSpc>
              <a:defRPr sz="2200">
                <a:latin typeface="paybooc ExtraBold"/>
                <a:ea typeface="paybooc ExtraBold"/>
                <a:cs typeface="paybooc ExtraBold"/>
                <a:sym typeface="paybooc ExtraBold"/>
              </a:defRPr>
            </a:pPr>
            <a:r>
              <a:t>"</a:t>
            </a:r>
            <a:r>
              <a:t>프로필</a:t>
            </a:r>
            <a:r>
              <a:t> </a:t>
            </a:r>
            <a:r>
              <a:t>등록</a:t>
            </a:r>
            <a:r>
              <a:t>", "</a:t>
            </a:r>
            <a:r>
              <a:t>프로필</a:t>
            </a:r>
            <a:r>
              <a:t> </a:t>
            </a:r>
            <a:r>
              <a:t>생성</a:t>
            </a:r>
            <a:r>
              <a:t>",</a:t>
            </a:r>
          </a:p>
          <a:p>
            <a:pPr algn="ctr">
              <a:lnSpc>
                <a:spcPct val="124499"/>
              </a:lnSpc>
              <a:defRPr sz="2200">
                <a:latin typeface="paybooc ExtraBold"/>
                <a:ea typeface="paybooc ExtraBold"/>
                <a:cs typeface="paybooc ExtraBold"/>
                <a:sym typeface="paybooc ExtraBold"/>
              </a:defRPr>
            </a:pPr>
            <a:r>
              <a:t> "</a:t>
            </a:r>
            <a:r>
              <a:t>프로필</a:t>
            </a:r>
            <a:r>
              <a:t> </a:t>
            </a:r>
            <a:r>
              <a:t>추가</a:t>
            </a:r>
            <a:r>
              <a:t>", "</a:t>
            </a:r>
            <a:r>
              <a:t>프로필</a:t>
            </a:r>
            <a:r>
              <a:t> </a:t>
            </a:r>
            <a:r>
              <a:t>만들기</a:t>
            </a:r>
            <a:r>
              <a:t>"</a:t>
            </a:r>
          </a:p>
        </p:txBody>
      </p:sp>
      <p:sp>
        <p:nvSpPr>
          <p:cNvPr id="167" name="TextBox 31"/>
          <p:cNvSpPr txBox="1"/>
          <p:nvPr/>
        </p:nvSpPr>
        <p:spPr>
          <a:xfrm>
            <a:off x="1092200" y="6057900"/>
            <a:ext cx="3695700" cy="5373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3300"/>
            </a:pP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프로필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 </a:t>
            </a:r>
            <a:r>
              <a:rPr>
                <a:latin typeface="paybooc ExtraBold"/>
                <a:ea typeface="paybooc ExtraBold"/>
                <a:cs typeface="paybooc ExtraBold"/>
                <a:sym typeface="paybooc ExtraBold"/>
              </a:rPr>
              <a:t>등록</a:t>
            </a:r>
          </a:p>
        </p:txBody>
      </p:sp>
      <p:pic>
        <p:nvPicPr>
          <p:cNvPr id="168" name="Picture 33" descr="Picture 33"/>
          <p:cNvPicPr>
            <a:picLocks noChangeAspect="1"/>
          </p:cNvPicPr>
          <p:nvPr/>
        </p:nvPicPr>
        <p:blipFill>
          <a:blip r:embed="rId9">
            <a:alphaModFix amt="20000"/>
            <a:extLst/>
          </a:blip>
          <a:stretch>
            <a:fillRect/>
          </a:stretch>
        </p:blipFill>
        <p:spPr>
          <a:xfrm>
            <a:off x="5118100" y="5486400"/>
            <a:ext cx="6769100" cy="2832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Picture 34" descr="Picture 34"/>
          <p:cNvPicPr>
            <a:picLocks noChangeAspect="1"/>
          </p:cNvPicPr>
          <p:nvPr/>
        </p:nvPicPr>
        <p:blipFill>
          <a:blip r:embed="rId10">
            <a:alphaModFix amt="60000"/>
            <a:extLst/>
          </a:blip>
          <a:stretch>
            <a:fillRect/>
          </a:stretch>
        </p:blipFill>
        <p:spPr>
          <a:xfrm>
            <a:off x="6311900" y="6311900"/>
            <a:ext cx="4356100" cy="1981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0" name="TextBox 35"/>
          <p:cNvSpPr txBox="1"/>
          <p:nvPr/>
        </p:nvSpPr>
        <p:spPr>
          <a:xfrm>
            <a:off x="6362700" y="7200900"/>
            <a:ext cx="4279900" cy="5917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6198"/>
              </a:lnSpc>
              <a:defRPr sz="3700">
                <a:solidFill>
                  <a:srgbClr val="FFFFFF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프로필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생성</a:t>
            </a:r>
          </a:p>
        </p:txBody>
      </p:sp>
      <p:pic>
        <p:nvPicPr>
          <p:cNvPr id="171" name="Picture 36" descr="Picture 36"/>
          <p:cNvPicPr>
            <a:picLocks noChangeAspect="1"/>
          </p:cNvPicPr>
          <p:nvPr/>
        </p:nvPicPr>
        <p:blipFill>
          <a:blip r:embed="rId11">
            <a:extLst/>
          </a:blip>
          <a:stretch>
            <a:fillRect/>
          </a:stretch>
        </p:blipFill>
        <p:spPr>
          <a:xfrm>
            <a:off x="5461000" y="6629400"/>
            <a:ext cx="50800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2" name="Picture 37" descr="Picture 37"/>
          <p:cNvPicPr>
            <a:picLocks noChangeAspect="1"/>
          </p:cNvPicPr>
          <p:nvPr/>
        </p:nvPicPr>
        <p:blipFill>
          <a:blip r:embed="rId12">
            <a:extLst/>
          </a:blip>
          <a:stretch>
            <a:fillRect/>
          </a:stretch>
        </p:blipFill>
        <p:spPr>
          <a:xfrm>
            <a:off x="10998200" y="6629400"/>
            <a:ext cx="508000" cy="50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3" name="Picture 38" descr="Picture 38"/>
          <p:cNvPicPr>
            <a:picLocks noChangeAspect="1"/>
          </p:cNvPicPr>
          <p:nvPr/>
        </p:nvPicPr>
        <p:blipFill>
          <a:blip r:embed="rId13">
            <a:extLst/>
          </a:blip>
          <a:stretch>
            <a:fillRect/>
          </a:stretch>
        </p:blipFill>
        <p:spPr>
          <a:xfrm>
            <a:off x="8255000" y="5257800"/>
            <a:ext cx="508000" cy="50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TextBox 39"/>
          <p:cNvSpPr txBox="1"/>
          <p:nvPr/>
        </p:nvSpPr>
        <p:spPr>
          <a:xfrm>
            <a:off x="5461000" y="6705600"/>
            <a:ext cx="50800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32800"/>
              </a:lnSpc>
              <a:defRPr sz="22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TextBox 40"/>
          <p:cNvSpPr txBox="1"/>
          <p:nvPr/>
        </p:nvSpPr>
        <p:spPr>
          <a:xfrm>
            <a:off x="8255000" y="5321300"/>
            <a:ext cx="50800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32800"/>
              </a:lnSpc>
              <a:defRPr sz="22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6" name="TextBox 41"/>
          <p:cNvSpPr txBox="1"/>
          <p:nvPr/>
        </p:nvSpPr>
        <p:spPr>
          <a:xfrm>
            <a:off x="10998200" y="6705600"/>
            <a:ext cx="508000" cy="33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132800"/>
              </a:lnSpc>
              <a:defRPr sz="22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4953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0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6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16" descr="Picture 1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84300" y="3225800"/>
            <a:ext cx="15532100" cy="549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Picture 17" descr="Picture 1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451100" y="4330700"/>
            <a:ext cx="2857500" cy="330200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TextBox 18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기능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흐름도</a:t>
            </a:r>
          </a:p>
        </p:txBody>
      </p:sp>
      <p:sp>
        <p:nvSpPr>
          <p:cNvPr id="193" name="TextBox 19"/>
          <p:cNvSpPr txBox="1"/>
          <p:nvPr/>
        </p:nvSpPr>
        <p:spPr>
          <a:xfrm>
            <a:off x="1562100" y="1638300"/>
            <a:ext cx="7874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02</a:t>
            </a:r>
          </a:p>
        </p:txBody>
      </p:sp>
      <p:pic>
        <p:nvPicPr>
          <p:cNvPr id="194" name="Picture 20" descr="Picture 20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3378200" y="4445000"/>
            <a:ext cx="1016000" cy="3048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1200" y="3937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99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0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1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5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TextBox 16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  <a:latin typeface="paybooc Bold"/>
                <a:ea typeface="paybooc Bold"/>
                <a:cs typeface="paybooc Bold"/>
                <a:sym typeface="paybooc Bold"/>
              </a:defRPr>
            </a:pPr>
            <a:r>
              <a:t>UI </a:t>
            </a:r>
            <a:r>
              <a:t>및</a:t>
            </a:r>
            <a:r>
              <a:t> </a:t>
            </a:r>
            <a:r>
              <a:t>하드웨어</a:t>
            </a:r>
            <a:r>
              <a:t> </a:t>
            </a:r>
            <a:r>
              <a:t>제작</a:t>
            </a:r>
          </a:p>
        </p:txBody>
      </p:sp>
      <p:sp>
        <p:nvSpPr>
          <p:cNvPr id="209" name="TextBox 17"/>
          <p:cNvSpPr txBox="1"/>
          <p:nvPr/>
        </p:nvSpPr>
        <p:spPr>
          <a:xfrm>
            <a:off x="1587500" y="1638300"/>
            <a:ext cx="7366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03</a:t>
            </a:r>
          </a:p>
        </p:txBody>
      </p:sp>
      <p:pic>
        <p:nvPicPr>
          <p:cNvPr id="210" name="Picture 19" descr="Picture 1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12800" y="2679700"/>
            <a:ext cx="16700500" cy="5410200"/>
          </a:xfrm>
          <a:prstGeom prst="rect">
            <a:avLst/>
          </a:prstGeom>
          <a:ln w="12700">
            <a:miter lim="400000"/>
          </a:ln>
        </p:spPr>
      </p:pic>
      <p:sp>
        <p:nvSpPr>
          <p:cNvPr id="211" name="TextBox 20"/>
          <p:cNvSpPr txBox="1"/>
          <p:nvPr/>
        </p:nvSpPr>
        <p:spPr>
          <a:xfrm>
            <a:off x="990600" y="7658100"/>
            <a:ext cx="3390900" cy="45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6198"/>
              </a:lnSpc>
              <a:defRPr sz="28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&lt;</a:t>
            </a:r>
            <a:r>
              <a:t>사용자</a:t>
            </a:r>
            <a:r>
              <a:t> </a:t>
            </a:r>
            <a:r>
              <a:t>접근</a:t>
            </a:r>
            <a:r>
              <a:t> </a:t>
            </a:r>
            <a:r>
              <a:t>대기중</a:t>
            </a:r>
            <a:r>
              <a:t>&gt;</a:t>
            </a:r>
          </a:p>
        </p:txBody>
      </p:sp>
      <p:sp>
        <p:nvSpPr>
          <p:cNvPr id="212" name="TextBox 21"/>
          <p:cNvSpPr txBox="1"/>
          <p:nvPr/>
        </p:nvSpPr>
        <p:spPr>
          <a:xfrm>
            <a:off x="4597400" y="7658100"/>
            <a:ext cx="3390900" cy="45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6198"/>
              </a:lnSpc>
              <a:defRPr sz="28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&lt;</a:t>
            </a:r>
            <a:r>
              <a:t>사용자</a:t>
            </a:r>
            <a:r>
              <a:t> </a:t>
            </a:r>
            <a:r>
              <a:t>음성</a:t>
            </a:r>
            <a:r>
              <a:t> </a:t>
            </a:r>
            <a:r>
              <a:t>녹음</a:t>
            </a:r>
            <a:r>
              <a:t>&gt;</a:t>
            </a:r>
          </a:p>
        </p:txBody>
      </p:sp>
      <p:sp>
        <p:nvSpPr>
          <p:cNvPr id="213" name="TextBox 22"/>
          <p:cNvSpPr txBox="1"/>
          <p:nvPr/>
        </p:nvSpPr>
        <p:spPr>
          <a:xfrm>
            <a:off x="7835900" y="7645400"/>
            <a:ext cx="2959100" cy="47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6198"/>
              </a:lnSpc>
              <a:defRPr sz="29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   &lt;</a:t>
            </a:r>
            <a:r>
              <a:t>사용자</a:t>
            </a:r>
            <a:r>
              <a:t> </a:t>
            </a:r>
            <a:r>
              <a:t>탐색</a:t>
            </a:r>
            <a:r>
              <a:t>&gt;   </a:t>
            </a:r>
          </a:p>
        </p:txBody>
      </p:sp>
      <p:sp>
        <p:nvSpPr>
          <p:cNvPr id="214" name="TextBox 23"/>
          <p:cNvSpPr txBox="1"/>
          <p:nvPr/>
        </p:nvSpPr>
        <p:spPr>
          <a:xfrm>
            <a:off x="10769600" y="7645400"/>
            <a:ext cx="3886200" cy="47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6198"/>
              </a:lnSpc>
              <a:defRPr sz="29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&lt;</a:t>
            </a:r>
            <a:r>
              <a:t>인증</a:t>
            </a:r>
            <a:r>
              <a:t> </a:t>
            </a:r>
            <a:r>
              <a:t>완료</a:t>
            </a:r>
            <a:r>
              <a:t> </a:t>
            </a:r>
            <a:r>
              <a:t>도어락</a:t>
            </a:r>
            <a:r>
              <a:t> </a:t>
            </a:r>
            <a:r>
              <a:t>개방</a:t>
            </a:r>
            <a:r>
              <a:t>&gt;</a:t>
            </a:r>
          </a:p>
        </p:txBody>
      </p:sp>
      <p:sp>
        <p:nvSpPr>
          <p:cNvPr id="215" name="TextBox 24"/>
          <p:cNvSpPr txBox="1"/>
          <p:nvPr/>
        </p:nvSpPr>
        <p:spPr>
          <a:xfrm>
            <a:off x="14516100" y="7645400"/>
            <a:ext cx="2959100" cy="470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116198"/>
              </a:lnSpc>
              <a:defRPr sz="29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  &lt;</a:t>
            </a:r>
            <a:r>
              <a:t>인증</a:t>
            </a:r>
            <a:r>
              <a:t> 3</a:t>
            </a:r>
            <a:r>
              <a:t>회</a:t>
            </a:r>
            <a:r>
              <a:t> </a:t>
            </a:r>
            <a:r>
              <a:t>실패</a:t>
            </a:r>
            <a:r>
              <a:t>&gt; 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11200" y="3937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8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19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0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1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2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8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" name="Picture 17" descr="Picture 1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84300" y="2667000"/>
            <a:ext cx="5105400" cy="3517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0" name="Picture 18" descr="Picture 18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6731000" y="2667000"/>
            <a:ext cx="4991100" cy="3517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" name="Picture 19" descr="Picture 1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11912600" y="2667000"/>
            <a:ext cx="4991100" cy="3517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" name="Picture 20" descr="Picture 20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1384300" y="6515100"/>
            <a:ext cx="9144000" cy="29591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3" name="Picture 21" descr="Picture 21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10896600" y="6515100"/>
            <a:ext cx="3949700" cy="2959100"/>
          </a:xfrm>
          <a:prstGeom prst="rect">
            <a:avLst/>
          </a:prstGeom>
          <a:ln w="12700">
            <a:miter lim="400000"/>
          </a:ln>
        </p:spPr>
      </p:pic>
      <p:sp>
        <p:nvSpPr>
          <p:cNvPr id="234" name="TextBox 22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  <a:latin typeface="paybooc Bold"/>
                <a:ea typeface="paybooc Bold"/>
                <a:cs typeface="paybooc Bold"/>
                <a:sym typeface="paybooc Bold"/>
              </a:defRPr>
            </a:pPr>
            <a:r>
              <a:t>UI </a:t>
            </a:r>
            <a:r>
              <a:t>및</a:t>
            </a:r>
            <a:r>
              <a:t> </a:t>
            </a:r>
            <a:r>
              <a:t>하드웨어</a:t>
            </a:r>
            <a:r>
              <a:t> </a:t>
            </a:r>
            <a:r>
              <a:t>제작</a:t>
            </a:r>
          </a:p>
        </p:txBody>
      </p:sp>
      <p:sp>
        <p:nvSpPr>
          <p:cNvPr id="235" name="TextBox 23"/>
          <p:cNvSpPr txBox="1"/>
          <p:nvPr/>
        </p:nvSpPr>
        <p:spPr>
          <a:xfrm>
            <a:off x="1587500" y="1638300"/>
            <a:ext cx="7366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36" name="TextBox 24"/>
          <p:cNvSpPr txBox="1"/>
          <p:nvPr/>
        </p:nvSpPr>
        <p:spPr>
          <a:xfrm>
            <a:off x="1384300" y="6210300"/>
            <a:ext cx="3390900" cy="511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6198"/>
              </a:lnSpc>
              <a:defRPr sz="32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&lt;</a:t>
            </a:r>
            <a:r>
              <a:t>도어락</a:t>
            </a:r>
            <a:r>
              <a:t> 3D </a:t>
            </a:r>
            <a:r>
              <a:t>모델링</a:t>
            </a:r>
            <a:r>
              <a:t>&gt;</a:t>
            </a:r>
          </a:p>
        </p:txBody>
      </p:sp>
      <p:sp>
        <p:nvSpPr>
          <p:cNvPr id="237" name="TextBox 25"/>
          <p:cNvSpPr txBox="1"/>
          <p:nvPr/>
        </p:nvSpPr>
        <p:spPr>
          <a:xfrm>
            <a:off x="6743700" y="6172200"/>
            <a:ext cx="3213100" cy="5110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16198"/>
              </a:lnSpc>
              <a:defRPr sz="32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&lt;</a:t>
            </a:r>
            <a:r>
              <a:t>아크릴</a:t>
            </a:r>
            <a:r>
              <a:t> </a:t>
            </a:r>
            <a:r>
              <a:t>재단</a:t>
            </a:r>
            <a:r>
              <a:t> </a:t>
            </a:r>
            <a:r>
              <a:t>도면</a:t>
            </a:r>
            <a:r>
              <a:t>&gt;</a:t>
            </a:r>
          </a:p>
        </p:txBody>
      </p:sp>
      <p:sp>
        <p:nvSpPr>
          <p:cNvPr id="238" name="TextBox 26"/>
          <p:cNvSpPr txBox="1"/>
          <p:nvPr/>
        </p:nvSpPr>
        <p:spPr>
          <a:xfrm>
            <a:off x="7251700" y="7565082"/>
            <a:ext cx="3746500" cy="9861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lnSpc>
                <a:spcPct val="92960"/>
              </a:lnSpc>
              <a:defRPr sz="3200"/>
            </a:pPr>
            <a:r>
              <a:rPr>
                <a:latin typeface="Pretendard Regular"/>
                <a:ea typeface="Pretendard Regular"/>
                <a:cs typeface="Pretendard Regular"/>
                <a:sym typeface="Pretendard Regular"/>
              </a:rPr>
              <a:t>도어락</a:t>
            </a:r>
            <a:r>
              <a:rPr>
                <a:latin typeface="Pretendard Regular"/>
                <a:ea typeface="Pretendard Regular"/>
                <a:cs typeface="Pretendard Regular"/>
                <a:sym typeface="Pretendard Regular"/>
              </a:rPr>
              <a:t> </a:t>
            </a:r>
            <a:r>
              <a:rPr>
                <a:latin typeface="Pretendard Regular"/>
                <a:ea typeface="Pretendard Regular"/>
                <a:cs typeface="Pretendard Regular"/>
                <a:sym typeface="Pretendard Regular"/>
              </a:rPr>
              <a:t>기판에</a:t>
            </a:r>
            <a:r>
              <a:rPr>
                <a:latin typeface="Pretendard Regular"/>
                <a:ea typeface="Pretendard Regular"/>
                <a:cs typeface="Pretendard Regular"/>
                <a:sym typeface="Pretendard Regular"/>
              </a:rPr>
              <a:t> </a:t>
            </a:r>
            <a:r>
              <a:rPr>
                <a:latin typeface="Pretendard Regular"/>
                <a:ea typeface="Pretendard Regular"/>
                <a:cs typeface="Pretendard Regular"/>
                <a:sym typeface="Pretendard Regular"/>
              </a:rPr>
              <a:t>연결하여</a:t>
            </a:r>
            <a:endParaRPr>
              <a:latin typeface="Pretendard Regular"/>
              <a:ea typeface="Pretendard Regular"/>
              <a:cs typeface="Pretendard Regular"/>
              <a:sym typeface="Pretendard Regular"/>
            </a:endParaRPr>
          </a:p>
          <a:p>
            <a:pPr>
              <a:lnSpc>
                <a:spcPct val="92960"/>
              </a:lnSpc>
              <a:defRPr sz="3200">
                <a:latin typeface="Pretendard Regular"/>
                <a:ea typeface="Pretendard Regular"/>
                <a:cs typeface="Pretendard Regular"/>
                <a:sym typeface="Pretendard Regular"/>
              </a:defRPr>
            </a:pPr>
            <a:r>
              <a:t>Short</a:t>
            </a:r>
            <a:r>
              <a:t>시</a:t>
            </a:r>
            <a:r>
              <a:t> </a:t>
            </a:r>
            <a:r>
              <a:t>열리고</a:t>
            </a:r>
            <a:r>
              <a:t> </a:t>
            </a:r>
            <a:r>
              <a:t>닫힘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0100" y="4953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1" name="Picture 3" descr="Picture 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84300" y="1447800"/>
            <a:ext cx="15532100" cy="1041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2" name="Picture 5" descr="Picture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3" name="Picture 6" descr="Picture 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4" name="Picture 7" descr="Picture 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5" name="Picture 8" descr="Picture 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6" name="Picture 9" descr="Picture 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Picture 11" descr="Picture 1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Picture 12" descr="Picture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13" descr="Picture 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14" descr="Picture 1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extBox 16"/>
          <p:cNvSpPr txBox="1"/>
          <p:nvPr/>
        </p:nvSpPr>
        <p:spPr>
          <a:xfrm>
            <a:off x="3695700" y="1587500"/>
            <a:ext cx="11785600" cy="7792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48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작품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우수성</a:t>
            </a:r>
          </a:p>
        </p:txBody>
      </p:sp>
      <p:sp>
        <p:nvSpPr>
          <p:cNvPr id="253" name="TextBox 17"/>
          <p:cNvSpPr txBox="1"/>
          <p:nvPr/>
        </p:nvSpPr>
        <p:spPr>
          <a:xfrm>
            <a:off x="1587500" y="1638300"/>
            <a:ext cx="7366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05</a:t>
            </a:r>
          </a:p>
        </p:txBody>
      </p:sp>
      <p:pic>
        <p:nvPicPr>
          <p:cNvPr id="254" name="Picture 18" descr="Picture 1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9105900" y="2679700"/>
            <a:ext cx="7670800" cy="1739900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Box 19"/>
          <p:cNvSpPr txBox="1"/>
          <p:nvPr/>
        </p:nvSpPr>
        <p:spPr>
          <a:xfrm>
            <a:off x="9309100" y="4660900"/>
            <a:ext cx="7632700" cy="12078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41100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1. </a:t>
            </a:r>
            <a:r>
              <a:rPr b="1"/>
              <a:t>손이</a:t>
            </a:r>
            <a:r>
              <a:rPr b="1"/>
              <a:t> </a:t>
            </a:r>
            <a:r>
              <a:rPr b="1"/>
              <a:t>자유롭다</a:t>
            </a:r>
            <a:r>
              <a:rPr b="1"/>
              <a:t> :</a:t>
            </a:r>
            <a:r>
              <a:t> </a:t>
            </a:r>
            <a:r>
              <a:t>짐</a:t>
            </a:r>
            <a:r>
              <a:t> </a:t>
            </a:r>
            <a:r>
              <a:t>들고</a:t>
            </a:r>
            <a:r>
              <a:t> </a:t>
            </a:r>
            <a:r>
              <a:t>있어도</a:t>
            </a:r>
            <a:r>
              <a:t>, </a:t>
            </a:r>
            <a:r>
              <a:t>장갑</a:t>
            </a:r>
            <a:r>
              <a:t> </a:t>
            </a:r>
            <a:r>
              <a:t>착용시에도</a:t>
            </a:r>
            <a:r>
              <a:t> </a:t>
            </a:r>
            <a:r>
              <a:t>인증</a:t>
            </a:r>
            <a:r>
              <a:t> </a:t>
            </a:r>
            <a:r>
              <a:t>가능</a:t>
            </a:r>
          </a:p>
          <a:p>
            <a:pPr>
              <a:lnSpc>
                <a:spcPct val="141100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</a:p>
          <a:p>
            <a:pPr>
              <a:lnSpc>
                <a:spcPct val="141100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2. </a:t>
            </a:r>
            <a:r>
              <a:rPr b="1"/>
              <a:t>자동</a:t>
            </a:r>
            <a:r>
              <a:rPr b="1"/>
              <a:t> </a:t>
            </a:r>
            <a:r>
              <a:rPr b="1"/>
              <a:t>시작</a:t>
            </a:r>
            <a:r>
              <a:rPr b="1"/>
              <a:t> :</a:t>
            </a:r>
            <a:r>
              <a:t> </a:t>
            </a:r>
            <a:r>
              <a:t>모션</a:t>
            </a:r>
            <a:r>
              <a:t> </a:t>
            </a:r>
            <a:r>
              <a:t>감지로</a:t>
            </a:r>
            <a:r>
              <a:t> UX </a:t>
            </a:r>
            <a:r>
              <a:t>지연</a:t>
            </a:r>
            <a:r>
              <a:t> </a:t>
            </a:r>
            <a:r>
              <a:t>최소화</a:t>
            </a:r>
            <a:r>
              <a:t>. 10</a:t>
            </a:r>
            <a:r>
              <a:t>초</a:t>
            </a:r>
            <a:r>
              <a:t> </a:t>
            </a:r>
            <a:r>
              <a:t>이내로</a:t>
            </a:r>
            <a:r>
              <a:t> </a:t>
            </a:r>
            <a:r>
              <a:t>도어락</a:t>
            </a:r>
            <a:r>
              <a:t> </a:t>
            </a:r>
            <a:r>
              <a:t>개방</a:t>
            </a:r>
            <a:r>
              <a:t> </a:t>
            </a:r>
            <a:r>
              <a:t>가능</a:t>
            </a:r>
          </a:p>
        </p:txBody>
      </p:sp>
      <p:sp>
        <p:nvSpPr>
          <p:cNvPr id="256" name="TextBox 20"/>
          <p:cNvSpPr txBox="1"/>
          <p:nvPr/>
        </p:nvSpPr>
        <p:spPr>
          <a:xfrm>
            <a:off x="9537700" y="3543300"/>
            <a:ext cx="6807200" cy="41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26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왜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더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편리한가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?</a:t>
            </a:r>
          </a:p>
        </p:txBody>
      </p:sp>
      <p:sp>
        <p:nvSpPr>
          <p:cNvPr id="257" name="TextBox 21"/>
          <p:cNvSpPr txBox="1"/>
          <p:nvPr/>
        </p:nvSpPr>
        <p:spPr>
          <a:xfrm>
            <a:off x="11531600" y="30988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KEY POINTS 2</a:t>
            </a:r>
          </a:p>
        </p:txBody>
      </p:sp>
      <p:pic>
        <p:nvPicPr>
          <p:cNvPr id="258" name="Picture 22" descr="Picture 2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333500" y="2679700"/>
            <a:ext cx="7670800" cy="1739900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TextBox 23"/>
          <p:cNvSpPr txBox="1"/>
          <p:nvPr/>
        </p:nvSpPr>
        <p:spPr>
          <a:xfrm>
            <a:off x="1257300" y="4660900"/>
            <a:ext cx="8140700" cy="4338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1. </a:t>
            </a:r>
            <a:r>
              <a:rPr b="1"/>
              <a:t>리플레이</a:t>
            </a:r>
            <a:r>
              <a:rPr b="1"/>
              <a:t>·TTS </a:t>
            </a:r>
            <a:r>
              <a:rPr b="1"/>
              <a:t>방어</a:t>
            </a:r>
            <a:r>
              <a:t> : </a:t>
            </a:r>
            <a:r>
              <a:t>고정</a:t>
            </a:r>
            <a:r>
              <a:t> </a:t>
            </a:r>
            <a:r>
              <a:t>키워드</a:t>
            </a:r>
            <a:r>
              <a:t>  </a:t>
            </a:r>
            <a:r>
              <a:t>실시간</a:t>
            </a:r>
            <a:r>
              <a:t> </a:t>
            </a:r>
            <a:r>
              <a:t>랜덤</a:t>
            </a:r>
            <a:r>
              <a:t> </a:t>
            </a:r>
            <a:r>
              <a:t>문장을</a:t>
            </a:r>
            <a:r>
              <a:t> “</a:t>
            </a:r>
            <a:r>
              <a:t>의미</a:t>
            </a:r>
            <a:r>
              <a:t>”</a:t>
            </a:r>
            <a:r>
              <a:t>로</a:t>
            </a:r>
            <a:r>
              <a:t> </a:t>
            </a:r>
            <a:r>
              <a:t>검증</a:t>
            </a:r>
            <a:r>
              <a:t>                </a:t>
            </a:r>
          </a:p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          → </a:t>
            </a:r>
            <a:r>
              <a:t>이전에</a:t>
            </a:r>
            <a:r>
              <a:t> </a:t>
            </a:r>
            <a:r>
              <a:t>녹음해둔</a:t>
            </a:r>
            <a:r>
              <a:t> </a:t>
            </a:r>
            <a:r>
              <a:t>파일</a:t>
            </a:r>
            <a:r>
              <a:t>/</a:t>
            </a:r>
            <a:r>
              <a:t>합성음으로</a:t>
            </a:r>
            <a:r>
              <a:t> </a:t>
            </a:r>
            <a:r>
              <a:t>통과하기</a:t>
            </a:r>
            <a:r>
              <a:t> </a:t>
            </a:r>
            <a:r>
              <a:t>어려움</a:t>
            </a:r>
          </a:p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2. </a:t>
            </a:r>
            <a:r>
              <a:rPr b="1"/>
              <a:t>다중</a:t>
            </a:r>
            <a:r>
              <a:rPr b="1"/>
              <a:t> </a:t>
            </a:r>
            <a:r>
              <a:rPr b="1"/>
              <a:t>특징</a:t>
            </a:r>
            <a:r>
              <a:rPr b="1"/>
              <a:t> </a:t>
            </a:r>
            <a:r>
              <a:rPr b="1"/>
              <a:t>결합</a:t>
            </a:r>
            <a:r>
              <a:t> : </a:t>
            </a:r>
            <a:r>
              <a:t>화자</a:t>
            </a:r>
            <a:r>
              <a:t> </a:t>
            </a:r>
            <a:r>
              <a:t>음성</a:t>
            </a:r>
            <a:r>
              <a:t> </a:t>
            </a:r>
            <a:r>
              <a:t>특징</a:t>
            </a:r>
            <a:r>
              <a:t>(ECAPA) + </a:t>
            </a:r>
            <a:r>
              <a:t>음향</a:t>
            </a:r>
            <a:r>
              <a:t>·</a:t>
            </a:r>
            <a:r>
              <a:t>피치</a:t>
            </a:r>
            <a:r>
              <a:t> </a:t>
            </a:r>
            <a:r>
              <a:t>특징</a:t>
            </a:r>
            <a:r>
              <a:t>(wav2vec2+Pitch)</a:t>
            </a:r>
          </a:p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          → </a:t>
            </a:r>
            <a:r>
              <a:t>특정</a:t>
            </a:r>
            <a:r>
              <a:t> </a:t>
            </a:r>
            <a:r>
              <a:t>노이즈</a:t>
            </a:r>
            <a:r>
              <a:t>/</a:t>
            </a:r>
            <a:r>
              <a:t>마이크</a:t>
            </a:r>
            <a:r>
              <a:t> </a:t>
            </a:r>
            <a:r>
              <a:t>편향에</a:t>
            </a:r>
            <a:r>
              <a:t> </a:t>
            </a:r>
            <a:r>
              <a:t>덜</a:t>
            </a:r>
            <a:r>
              <a:t> </a:t>
            </a:r>
            <a:r>
              <a:t>민감</a:t>
            </a:r>
            <a:r>
              <a:t>.</a:t>
            </a:r>
          </a:p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3. </a:t>
            </a:r>
            <a:r>
              <a:rPr b="1"/>
              <a:t>시도</a:t>
            </a:r>
            <a:r>
              <a:rPr b="1"/>
              <a:t> </a:t>
            </a:r>
            <a:r>
              <a:rPr b="1"/>
              <a:t>제한</a:t>
            </a:r>
            <a:r>
              <a:rPr b="1"/>
              <a:t>/</a:t>
            </a:r>
            <a:r>
              <a:rPr b="1"/>
              <a:t>락다운</a:t>
            </a:r>
            <a:r>
              <a:t> : </a:t>
            </a:r>
            <a:r>
              <a:t>연속</a:t>
            </a:r>
            <a:r>
              <a:t> </a:t>
            </a:r>
            <a:r>
              <a:t>실패</a:t>
            </a:r>
            <a:r>
              <a:t> </a:t>
            </a:r>
            <a:r>
              <a:t>시</a:t>
            </a:r>
            <a:r>
              <a:t> </a:t>
            </a:r>
            <a:r>
              <a:t>일정</a:t>
            </a:r>
            <a:r>
              <a:t> </a:t>
            </a:r>
            <a:r>
              <a:t>시간</a:t>
            </a:r>
            <a:r>
              <a:t> </a:t>
            </a:r>
            <a:r>
              <a:t>차단</a:t>
            </a:r>
            <a:r>
              <a:t>, </a:t>
            </a:r>
            <a:r>
              <a:t>무차별</a:t>
            </a:r>
            <a:r>
              <a:t> </a:t>
            </a:r>
            <a:r>
              <a:t>시도</a:t>
            </a:r>
            <a:r>
              <a:t> </a:t>
            </a:r>
            <a:r>
              <a:t>방어</a:t>
            </a:r>
            <a:r>
              <a:t>.</a:t>
            </a:r>
          </a:p>
          <a:p>
            <a:pPr>
              <a:lnSpc>
                <a:spcPct val="207499"/>
              </a:lnSpc>
              <a:defRPr spc="-100" sz="2000">
                <a:solidFill>
                  <a:srgbClr val="373737"/>
                </a:solidFill>
                <a:latin typeface="Noto Sans CJK KR DemiLight"/>
                <a:ea typeface="Noto Sans CJK KR DemiLight"/>
                <a:cs typeface="Noto Sans CJK KR DemiLight"/>
                <a:sym typeface="Noto Sans CJK KR DemiLight"/>
              </a:defRPr>
            </a:pPr>
            <a:r>
              <a:t>4. </a:t>
            </a:r>
            <a:r>
              <a:rPr b="1"/>
              <a:t>지속적인</a:t>
            </a:r>
            <a:r>
              <a:rPr b="1"/>
              <a:t> </a:t>
            </a:r>
            <a:r>
              <a:rPr b="1"/>
              <a:t>보안성</a:t>
            </a:r>
            <a:r>
              <a:rPr b="1"/>
              <a:t> </a:t>
            </a:r>
            <a:r>
              <a:rPr b="1"/>
              <a:t>증가</a:t>
            </a:r>
            <a:r>
              <a:t>  : </a:t>
            </a:r>
            <a:r>
              <a:t>인증</a:t>
            </a:r>
            <a:r>
              <a:t> </a:t>
            </a:r>
            <a:r>
              <a:t>완료</a:t>
            </a:r>
            <a:r>
              <a:t> </a:t>
            </a:r>
            <a:r>
              <a:t>시점</a:t>
            </a:r>
            <a:r>
              <a:t> </a:t>
            </a:r>
            <a:r>
              <a:t>로그인</a:t>
            </a:r>
            <a:r>
              <a:t> </a:t>
            </a:r>
            <a:r>
              <a:t>시</a:t>
            </a:r>
            <a:r>
              <a:t> </a:t>
            </a:r>
            <a:r>
              <a:t>사용한</a:t>
            </a:r>
            <a:r>
              <a:t> </a:t>
            </a:r>
            <a:r>
              <a:t>음성</a:t>
            </a:r>
            <a:r>
              <a:t> </a:t>
            </a:r>
            <a:r>
              <a:t>파일</a:t>
            </a:r>
            <a:r>
              <a:t> </a:t>
            </a:r>
            <a:r>
              <a:t>프로필에</a:t>
            </a:r>
            <a:r>
              <a:t>            </a:t>
            </a:r>
            <a:r>
              <a:t>업데이트</a:t>
            </a:r>
            <a:r>
              <a:t> → </a:t>
            </a:r>
            <a:r>
              <a:t>사용할수록</a:t>
            </a:r>
            <a:r>
              <a:t> </a:t>
            </a:r>
            <a:r>
              <a:t>보안성</a:t>
            </a:r>
            <a:r>
              <a:t> </a:t>
            </a:r>
            <a:r>
              <a:t>증가</a:t>
            </a:r>
          </a:p>
        </p:txBody>
      </p:sp>
      <p:sp>
        <p:nvSpPr>
          <p:cNvPr id="260" name="TextBox 24"/>
          <p:cNvSpPr txBox="1"/>
          <p:nvPr/>
        </p:nvSpPr>
        <p:spPr>
          <a:xfrm>
            <a:off x="1765300" y="3556000"/>
            <a:ext cx="6807200" cy="416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lnSpc>
                <a:spcPct val="99600"/>
              </a:lnSpc>
              <a:defRPr sz="2600">
                <a:solidFill>
                  <a:srgbClr val="373737"/>
                </a:solidFill>
              </a:defRPr>
            </a:pP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왜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더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 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안전한가</a:t>
            </a:r>
            <a:r>
              <a:rPr>
                <a:latin typeface="paybooc Bold"/>
                <a:ea typeface="paybooc Bold"/>
                <a:cs typeface="paybooc Bold"/>
                <a:sym typeface="paybooc Bold"/>
              </a:rPr>
              <a:t>?</a:t>
            </a:r>
          </a:p>
        </p:txBody>
      </p:sp>
      <p:sp>
        <p:nvSpPr>
          <p:cNvPr id="261" name="TextBox 25"/>
          <p:cNvSpPr txBox="1"/>
          <p:nvPr/>
        </p:nvSpPr>
        <p:spPr>
          <a:xfrm>
            <a:off x="3759200" y="3111500"/>
            <a:ext cx="2832100" cy="279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>
                <a:solidFill>
                  <a:srgbClr val="90A4A5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KEY POINTS 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D2DF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98500" y="495300"/>
            <a:ext cx="16891000" cy="929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4" descr="Picture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383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5" name="Picture 5" descr="Picture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4130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6" name="Picture 6" descr="Picture 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1877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7" name="Picture 7" descr="Picture 7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3962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Picture 8" descr="Picture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737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69" name="Picture 10" descr="Picture 10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33604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icture 11" descr="Picture 11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1351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Picture 12" descr="Picture 1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9098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2" name="Picture 13" descr="Picture 13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845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Picture 14" descr="Picture 1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459200" y="228600"/>
            <a:ext cx="190500" cy="622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4" name="Picture 15" descr="Picture 1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03700" y="3949700"/>
            <a:ext cx="9880600" cy="2387600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Box 16"/>
          <p:cNvSpPr txBox="1"/>
          <p:nvPr/>
        </p:nvSpPr>
        <p:spPr>
          <a:xfrm>
            <a:off x="1587500" y="1638300"/>
            <a:ext cx="736600" cy="584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lnSpc>
                <a:spcPct val="99600"/>
              </a:lnSpc>
              <a:defRPr sz="3800">
                <a:solidFill>
                  <a:srgbClr val="FFFFFF"/>
                </a:solidFill>
                <a:latin typeface="paybooc ExtraBold"/>
                <a:ea typeface="paybooc ExtraBold"/>
                <a:cs typeface="paybooc ExtraBold"/>
                <a:sym typeface="paybooc ExtraBold"/>
              </a:defRPr>
            </a:lvl1pPr>
          </a:lstStyle>
          <a:p>
            <a:pPr/>
            <a:r>
              <a:t>05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